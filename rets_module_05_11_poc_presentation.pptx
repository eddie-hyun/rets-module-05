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1097280"/>
            <a:ext cx="4206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7955280" y="4846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200" kern="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6459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435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  ·  PoC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기반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테스트케이스 생성 도구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정의된 요구사항으로부터 LLM 기반 테스트 시나리오·케이스 자동 생성과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↔ 테스트케이스 양방향 추적을 지원하는 단일 HTML 웹앱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68580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303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</a:rPr>
              <a:t>TEAM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</a:rPr>
              <a:t>DELIVERABLE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MD11 — PoC Presentation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5303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</a:rPr>
              <a:t>DATE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309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요구공학 도구 스위트(RETS) — Requirements Engineering Tool Suite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다룰 내용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1208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10972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91640" y="16642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029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요구사항-테스트 단절이 가져오는 5가지 리스크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21208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633472"/>
            <a:ext cx="10972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79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91640" y="2743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개요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108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정의·비전·대상 사용자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521208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712464"/>
            <a:ext cx="10972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581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91640" y="38221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방식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자동 생성 + 양방향 추적의 결합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791456"/>
            <a:ext cx="521208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791456"/>
            <a:ext cx="10972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691640" y="49011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91640" y="52669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핵심 기능 / Human-in-the-Loop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1554480"/>
            <a:ext cx="521208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1554480"/>
            <a:ext cx="10972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52360" y="16642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특징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52360" y="2029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HTML · Vanilla JS · LLM Relay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633472"/>
            <a:ext cx="521208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2633472"/>
            <a:ext cx="10972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2679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7452360" y="2743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 결과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452360" y="3108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TS/KUS 통과 현황과 비기능 지표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712464"/>
            <a:ext cx="521208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3712464"/>
            <a:ext cx="10972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37581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452360" y="38221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포인트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45236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데모 시나리오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개발 배경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요구사항과 테스트가 단절되면 무엇이 무너지는가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44348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개의 구조적 리스크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RFP는 검증 누락·테스트 낭비·변경 관리 실패·추적 불가·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의존을 RETS-MODULE-05가 풀어야 할 핵심 문제로 정의한다.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691640"/>
            <a:ext cx="68580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8836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81051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누락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요구사항에 대응하는 테스트가 없어 결함이 출시 후 발견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578608"/>
            <a:ext cx="68580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277063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26974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낭비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요구사항과 무관한 테스트가 반복되어 QA 공수 낭비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465576"/>
            <a:ext cx="68580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36576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5844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관리 실패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3904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변경 시 영향 테스트케이스 식별 누락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352544"/>
            <a:ext cx="68580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454456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447141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불가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47914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요구사항-결과 간 추적 관계 부재로 품질 현황 파악 곤란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5239512"/>
            <a:ext cx="68580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5431536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77840" y="53583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의존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77840" y="56784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품질이 담당자 역량에 좌우되어 편차 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모듈 개요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— 한 문장 정의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4630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요구사항이 정의되는 순간, 검증 체계도 함께 만들어진다.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정의된 개발 요구사항(DEV-REQ)으로부터 LLM이 정상·예외·경계 시나리오와 Given-When-Then 테스트케이스를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생성하고, 요구사항 ↔ 테스트케이스 양방향 추적을 지원하는 RETS의 최종 검증 단계 모듈.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3627120" cy="2606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20440"/>
            <a:ext cx="362712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8620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Primary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· BA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31520" y="539496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담당자와 요구사항 분석가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7200" y="3520440"/>
            <a:ext cx="3627120" cy="2606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267200" y="3520440"/>
            <a:ext cx="362712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541520" y="388620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41520" y="429768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 · Matrix CSV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41520" y="539496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테스트케이스 목록 + 추적 매트릭스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77200" y="3520440"/>
            <a:ext cx="3627120" cy="2606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7200" y="3520440"/>
            <a:ext cx="362712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8351520" y="388620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형태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1520" y="429768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 HTML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351520" y="539496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Vanilla JS · 백엔드 없음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접근 방식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축의 결합 — 자동화와 추적성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4434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AXIS 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자동 생성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정상·예외·경계 시나리오와 Given-When-Then 테스트케이스를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단위로 즉시 제안 — 초안 작성 시간을 대폭 절감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33672"/>
            <a:ext cx="164592" cy="164592"/>
          </a:xfrm>
          <a:prstGeom prst="rect">
            <a:avLst/>
          </a:prstGeom>
          <a:solidFill>
            <a:srgbClr val="0A0B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069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DEV-REQ JSON 단건/일괄 호출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736592"/>
            <a:ext cx="164592" cy="164592"/>
          </a:xfrm>
          <a:prstGeom prst="rect">
            <a:avLst/>
          </a:prstGeom>
          <a:solidFill>
            <a:srgbClr val="0A0B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572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스키마 강제 + 응답 검증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239512"/>
            <a:ext cx="164592" cy="164592"/>
          </a:xfrm>
          <a:prstGeom prst="rect">
            <a:avLst/>
          </a:prstGeom>
          <a:solidFill>
            <a:srgbClr val="0A0B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74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Accept / Reject / 인라인 편집 (HITL)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1691640"/>
            <a:ext cx="5532120" cy="44348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AXIS 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65392" y="23317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추적성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65392" y="3063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↔ 테스트케이스를 매트릭스·그래프로 동시에 관리하여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커버리지·변경 영향을 실시간으로 가시화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65392" y="4233672"/>
            <a:ext cx="16459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839712" y="4069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 테이블 + 매핑 편집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65392" y="4736592"/>
            <a:ext cx="16459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4572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그래프 (Pan / Zoom / Focus)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65392" y="5239512"/>
            <a:ext cx="16459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839712" y="5074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플래그 → 영향 TC + LLM 권고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주요 기능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(1) — 자동 생성 &amp; 휴먼-인-더-루프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67512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10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DEV-REQ 불러오기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04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파일 업로드 → 스키마 검증 → 그리드 표시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70632"/>
            <a:ext cx="667512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자동 생성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4838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정상/예외/경계 시나리오 + GWT 테스트케이스 LLM 제안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9624"/>
            <a:ext cx="667512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968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2336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Accept · Reject · Edit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562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검토를 거쳐 케이스 등록 (HITL 원칙)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928616"/>
            <a:ext cx="6675120" cy="9601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047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53126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출력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5641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테스트케이스 목록 + 추적 매트릭스 CSV 내보내기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691640"/>
            <a:ext cx="4297680" cy="44348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제안 → 사람 검토 → 등록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80960" y="2971800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19872" y="2953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9872" y="3090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DEV-REQ 선택 + 생성 요청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3447288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19872" y="3429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19872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prompt + req 직렬화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80960" y="3922776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19872" y="3904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19872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스키마 응답 (시나리오·TC)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0" y="4398264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19872" y="4379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19872" y="4517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파싱·검증 → 카드 렌더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80960" y="487375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0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19872" y="4855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19872" y="4992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Accept / Reject / Edit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80960" y="5349240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5349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19872" y="5330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19872" y="5468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 목록 + 매핑 업데이트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주요 기능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(2) — 추적성·시각화·변경 영향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109728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1226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추적 매트릭스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↔ 테스트케이스 매핑을 인라인 편집 가능한 테이블로 관리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mapping_type 컬럼 보유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338328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3832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다대다 관계 지원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553212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691640"/>
            <a:ext cx="109728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856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73952" y="211226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커버리지 대시보드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2560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요구사항·총 TC·커버리지 비율·변경 요구사항을 카드로 즉시 가시화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73952" y="338328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33832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단위 커버리지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68512" y="338328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33832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색상 구분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553212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069080"/>
            <a:ext cx="109728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33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48970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영향 분석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플래그 설정 시 영향 TC 자동 식별 + LLM이 유지/수정/폐기/신규 권고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76072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760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근거(rationale) 함께 제시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576072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5760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권고 Accept/Reject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9632" y="4069080"/>
            <a:ext cx="553212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4069080"/>
            <a:ext cx="109728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4233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FR-07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73952" y="448970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추적성 네트워크 그래프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73952" y="4937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요구사항·시나리오·TC를 노드/엣지로 시각화, Pan·Zoom·Focus 모드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73952" y="576072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5760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타입별 노드 색상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68512" y="5760720"/>
            <a:ext cx="2057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68512" y="5760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포커스 시 비관련 노드 디밍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기술적 특징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파일 · 외부 의존 최소 · 휴먼 친화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74620" cy="292608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125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 HTML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Vanilla JS · CSS·JS 내장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1259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없이 브라우저 단독 실행. iframe 통합 용이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4700" y="1691640"/>
            <a:ext cx="2674620" cy="292608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1965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9020" y="2468880"/>
            <a:ext cx="2125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Relay 연동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89020" y="292608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9020" y="3017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ai-relay.mooo.com · team2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89020" y="3383280"/>
            <a:ext cx="21259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Initialize Chat → Continue Chat 흐름 + JSON 스키마 강제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2674620" cy="292608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965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2468880"/>
            <a:ext cx="2125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In-Memory + File I/O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92608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017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FileReader · Blob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383280"/>
            <a:ext cx="21259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DB·localStorage 미사용. JSON 입력 / CSV 출력만 사용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29700" y="1691640"/>
            <a:ext cx="2674620" cy="292608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24" name="Text 22"/>
          <p:cNvSpPr/>
          <p:nvPr/>
        </p:nvSpPr>
        <p:spPr>
          <a:xfrm>
            <a:off x="9304020" y="1965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304020" y="2468880"/>
            <a:ext cx="2125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04020" y="292608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4020" y="3017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#F97316 · Noto Sans KR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04020" y="3383280"/>
            <a:ext cx="21259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라이트/다크 · KO/EN · WCAG 가독성 준수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846320"/>
            <a:ext cx="1124712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비기능 약속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376672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52852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처리로 UI 블로킹 방지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5376672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52852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 필수 (LLM 결과 수락/거부)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76072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" y="56692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파싱 실패 시 명확한 오류 + 재시도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576072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56692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라이트/다크 · KO/EN · 키보드 탐색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데이터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입력에서 CSV 출력까지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3728" y="1920240"/>
            <a:ext cx="1691640" cy="1828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563728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3728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55168" y="3108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DEV-REQ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291944" y="2770632"/>
            <a:ext cx="128016" cy="128016"/>
          </a:xfrm>
          <a:prstGeom prst="rtTriangle">
            <a:avLst/>
          </a:prstGeom>
          <a:solidFill>
            <a:srgbClr val="9CA3AF"/>
          </a:solidFill>
          <a:ln/>
        </p:spPr>
      </p:sp>
      <p:sp>
        <p:nvSpPr>
          <p:cNvPr id="10" name="Shape 8"/>
          <p:cNvSpPr/>
          <p:nvPr/>
        </p:nvSpPr>
        <p:spPr>
          <a:xfrm>
            <a:off x="2438248" y="1920240"/>
            <a:ext cx="1691640" cy="1828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2438248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8248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29688" y="3108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검증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그리드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166464" y="2770632"/>
            <a:ext cx="128016" cy="128016"/>
          </a:xfrm>
          <a:prstGeom prst="rtTriangle">
            <a:avLst/>
          </a:prstGeom>
          <a:solidFill>
            <a:srgbClr val="9CA3A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2768" y="1920240"/>
            <a:ext cx="1691640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312768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2768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404208" y="3108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시나리오·TC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040984" y="2770632"/>
            <a:ext cx="128016" cy="128016"/>
          </a:xfrm>
          <a:prstGeom prst="rtTriangle">
            <a:avLst/>
          </a:prstGeom>
          <a:solidFill>
            <a:srgbClr val="9CA3AF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7288" y="1920240"/>
            <a:ext cx="1691640" cy="1828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6187288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7288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78728" y="3108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Accept / Reject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915504" y="2770632"/>
            <a:ext cx="128016" cy="128016"/>
          </a:xfrm>
          <a:prstGeom prst="rtTriangle">
            <a:avLst/>
          </a:prstGeom>
          <a:solidFill>
            <a:srgbClr val="9CA3A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61808" y="1920240"/>
            <a:ext cx="1691640" cy="1828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8061808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61808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153248" y="3108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매트릭스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그래프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5400000">
            <a:off x="9790024" y="2770632"/>
            <a:ext cx="128016" cy="128016"/>
          </a:xfrm>
          <a:prstGeom prst="rtTriangle">
            <a:avLst/>
          </a:prstGeom>
          <a:solidFill>
            <a:srgbClr val="9CA3AF"/>
          </a:solidFill>
          <a:ln/>
        </p:spPr>
      </p:sp>
      <p:sp>
        <p:nvSpPr>
          <p:cNvPr id="30" name="Shape 28"/>
          <p:cNvSpPr/>
          <p:nvPr/>
        </p:nvSpPr>
        <p:spPr>
          <a:xfrm>
            <a:off x="9936328" y="1920240"/>
            <a:ext cx="1691640" cy="182880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9936328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36328" y="24688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0027768" y="31089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TC.csv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Matrix.csv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389120"/>
            <a:ext cx="1090879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스키마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846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rets_02c_req_schema.json (DEV 타입 필터링)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47288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응답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47288" y="4846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강제 — 파싱 실패 시 재시도 가능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54496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원칙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54496" y="4846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LLM 결과는 사람이 수락/거부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61704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컬럼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61704" y="4846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tc_id, req_id, scenario_type, GWT, status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UI/UX 하이라이트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화면 · 일관된 디자인 시스템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50008" y="1691640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2350008" y="1691640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87168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목록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2816" y="1691640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242816" y="1691640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976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79976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테스트케이스 관리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5624" y="1691640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135624" y="1691640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72784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매트릭스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172968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72160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시각화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350008" y="3172968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2350008" y="3172968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2487168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87168" y="372160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영향 분석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2816" y="3172968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4242816" y="3172968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4379976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79976" y="372160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출력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35624" y="3172968"/>
            <a:ext cx="1783080" cy="1371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135624" y="3172968"/>
            <a:ext cx="178308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6272784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72784" y="372160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84464" y="1691640"/>
            <a:ext cx="3450031" cy="2852928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38" name="Text 36"/>
          <p:cNvSpPr/>
          <p:nvPr/>
        </p:nvSpPr>
        <p:spPr>
          <a:xfrm>
            <a:off x="8558784" y="1828800"/>
            <a:ext cx="29013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 PRINCIPLES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58784" y="2194560"/>
            <a:ext cx="1552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#F97316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11298" y="2194560"/>
            <a:ext cx="16231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컬러 단일 사용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58784" y="2606040"/>
            <a:ext cx="1552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Noto Sans KR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111298" y="2606040"/>
            <a:ext cx="16231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20px · 자간 -0.04em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58784" y="3017520"/>
            <a:ext cx="1552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라이트/다크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111298" y="3017520"/>
            <a:ext cx="16231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 전환 + 키보드 탐색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58784" y="3429000"/>
            <a:ext cx="1552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 / EN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111298" y="3429000"/>
            <a:ext cx="16231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UI 즉시 전환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58784" y="3840480"/>
            <a:ext cx="15525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미니멀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111298" y="3840480"/>
            <a:ext cx="16231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shadcn/ui 계열 업무형 UI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·  벤치마크 결과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벤치마크 — 기능·비기능 검증 현황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74620" cy="16916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125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 / KUS / NFR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테스트 케이스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4700" y="1691640"/>
            <a:ext cx="2674620" cy="1691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3589020" y="1856232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 90%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89020" y="2651760"/>
            <a:ext cx="2125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요구사항당 TC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 성공률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2674620" cy="16916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856232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≥ 95%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46520" y="2651760"/>
            <a:ext cx="2125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응답 JSON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 성공률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29700" y="1691640"/>
            <a:ext cx="2674620" cy="16916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9304020" y="1856232"/>
            <a:ext cx="21259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04020" y="2651760"/>
            <a:ext cx="2125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기반 커버리지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정확도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카테고리별 통과 현황 (예상)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 (FR)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DEV_FR_001 ~ 009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4270248"/>
            <a:ext cx="42062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4270248"/>
            <a:ext cx="4206240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98480" y="4160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비기능 요구사항 (NFR)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DEV_NFR_001 ~ 007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773168"/>
            <a:ext cx="42062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773168"/>
            <a:ext cx="4206240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10698480" y="4663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사용자 시나리오 (KUS)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KUS-01 ~ 04 (E2E)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5276088"/>
            <a:ext cx="42062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276088"/>
            <a:ext cx="4206240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10698480" y="5166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 입력 처리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rets_benchmark_02_dev_req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5779008"/>
            <a:ext cx="4206240" cy="1463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5779008"/>
            <a:ext cx="4206240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98480" y="5669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1264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본 수치는 TDD(MD04)에 정의된 시나리오·케이스 수와 PRD(MD02) 성공 지표에 기반한 PoC 목표값이며, 최종 결과는 MD08(테스트 수행 결과)에 기록된다.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·  시연 포인트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데모 시나리오 — 7개의 결정적 순간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772400" cy="4434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011680"/>
            <a:ext cx="0" cy="379476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965960"/>
            <a:ext cx="274320" cy="27432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 DEV-REQ JSON 업로드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212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검증 통과 → 그리드 표시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2532888"/>
            <a:ext cx="274320" cy="27432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4871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4871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1건 선택 → LLM 호출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779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정상/예외/경계 시나리오 + GWT 자동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25880" y="3099816"/>
            <a:ext cx="274320" cy="27432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30540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30540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Accept / Reject / 인라인 편집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3346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Human-in-the-Loop 흐름 시연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25880" y="3666744"/>
            <a:ext cx="274320" cy="27432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6210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36210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매트릭스 + 매핑 편집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0604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관계가 즉시 그래프에 반영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25880" y="4233672"/>
            <a:ext cx="274320" cy="27432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41879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03:15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41879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Pan · Zoom · Focus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4480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비관련 노드 디밍, 클러스터링 확인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25880" y="4800600"/>
            <a:ext cx="274320" cy="27432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4754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04:00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4754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플래그 + LLM 권고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06040" y="5047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유지/수정/폐기/신규 권고 + 근거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25880" y="5367528"/>
            <a:ext cx="274320" cy="27432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5F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5321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04:30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53218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TC.csv / Matrix.csv 출력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06040" y="5614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도구 재활용 가능한 산출물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1691640"/>
            <a:ext cx="3200400" cy="4434840"/>
          </a:xfrm>
          <a:prstGeom prst="rect">
            <a:avLst/>
          </a:prstGeom>
          <a:solidFill>
            <a:srgbClr val="101111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 ENV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7824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&amp; 데이터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77824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Browser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92640" y="2788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Chrome 최신 (단일 HTML)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9264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rets_benchmark_02_dev_req.json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Relay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9264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ai-relay.mooo.com / team2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7824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9264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 + 다크 토글 시연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78240" y="4800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69264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 ↔ EN 즉시 전환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78240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Backup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9264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Mock 응답 모드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RETS-MODULE-05  ·  요구사항 기반 테스트케이스 생성 도구  ·  Team2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16459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2435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B9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CLOSING  ·  Q&amp;A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요구사항이 정의되는 순간,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체계도 함께 만들어집니다.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MODULE-05는 LLM 자동 생성과 양방향 추적을 결합해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누락을 구조적으로 차단하는 RETS의 마지막 검증 모듈입니다.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0" y="1280160"/>
            <a:ext cx="3047695" cy="4846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0" y="1463040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0" y="1783080"/>
            <a:ext cx="2499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발표 세션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961120" y="3154680"/>
            <a:ext cx="146304" cy="146304"/>
          </a:xfrm>
          <a:prstGeom prst="rect">
            <a:avLst/>
          </a:prstGeom>
          <a:solidFill>
            <a:srgbClr val="0A0B0B"/>
          </a:solidFill>
          <a:ln/>
        </p:spPr>
      </p:sp>
      <p:sp>
        <p:nvSpPr>
          <p:cNvPr id="10" name="Text 8"/>
          <p:cNvSpPr/>
          <p:nvPr/>
        </p:nvSpPr>
        <p:spPr>
          <a:xfrm>
            <a:off x="9189720" y="3017520"/>
            <a:ext cx="2270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라이브 시연 + Q&amp;A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657600"/>
            <a:ext cx="146304" cy="146304"/>
          </a:xfrm>
          <a:prstGeom prst="rect">
            <a:avLst/>
          </a:prstGeom>
          <a:solidFill>
            <a:srgbClr val="0A0B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89720" y="3520440"/>
            <a:ext cx="2270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MD10 사업 제안서 동시 제출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4160520"/>
            <a:ext cx="146304" cy="146304"/>
          </a:xfrm>
          <a:prstGeom prst="rect">
            <a:avLst/>
          </a:prstGeom>
          <a:solidFill>
            <a:srgbClr val="0A0B0B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4023360"/>
            <a:ext cx="2270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MD12 Skill 문서 (선택) 검토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4663440"/>
            <a:ext cx="146304" cy="146304"/>
          </a:xfrm>
          <a:prstGeom prst="rect">
            <a:avLst/>
          </a:prstGeom>
          <a:solidFill>
            <a:srgbClr val="0A0B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4526280"/>
            <a:ext cx="2270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B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 결과 MD08 공유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73152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715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0" y="5806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Team2  ·  RETS-MODULE-05  ·  2026-05-07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RETS PoC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RETS-MODULE-05 PoC 발표자료</dc:title>
  <dc:subject>요구사항 기반 테스트케이스 생성 도구</dc:subject>
  <dc:creator>team2</dc:creator>
  <cp:lastModifiedBy>team2</cp:lastModifiedBy>
  <cp:revision>1</cp:revision>
  <dcterms:created xsi:type="dcterms:W3CDTF">2026-05-07T09:12:19Z</dcterms:created>
  <dcterms:modified xsi:type="dcterms:W3CDTF">2026-05-07T09:12:19Z</dcterms:modified>
</cp:coreProperties>
</file>